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5A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005840"/>
            <a:ext cx="1005840" cy="1005840"/>
          </a:xfrm>
          <a:prstGeom prst="rect">
            <a:avLst/>
          </a:prstGeom>
          <a:solidFill>
            <a:srgbClr val="5A3BFF"/>
          </a:solidFill>
          <a:ln w="12700">
            <a:solidFill>
              <a:srgbClr val="5A3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40" y="1051560"/>
            <a:ext cx="9144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0D0D0D"/>
                </a:solidFill>
              </a:rPr>
              <a:t>Aition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91640" y="1874519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5A3BFF"/>
                </a:solidFill>
              </a:rPr>
              <a:t>Causal AI Fairness Engine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606040"/>
            <a:ext cx="10515600" cy="1905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7889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374151"/>
                </a:solidFill>
              </a:rPr>
              <a:t>"Your hiring model just passed every standard fairness test.
 It rejected 81 qualified candidates anyway."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4023360"/>
            <a:ext cx="3474720" cy="1371600"/>
          </a:xfrm>
          <a:prstGeom prst="rect">
            <a:avLst/>
          </a:prstGeom>
          <a:solidFill>
            <a:srgbClr val="F3F4F6"/>
          </a:solidFill>
          <a:ln w="12700">
            <a:solidFill>
              <a:srgbClr val="5A3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411480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5A3BFF"/>
                </a:solidFill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7548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B7280"/>
                </a:solidFill>
              </a:rPr>
              <a:t>Proxy Paths Detected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59" y="4023360"/>
            <a:ext cx="3474720" cy="1371600"/>
          </a:xfrm>
          <a:prstGeom prst="rect">
            <a:avLst/>
          </a:prstGeom>
          <a:solidFill>
            <a:srgbClr val="F3F4F6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51959" y="411480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DC2626"/>
                </a:solidFill>
              </a:rPr>
              <a:t>81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59" y="47548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B7280"/>
                </a:solidFill>
              </a:rPr>
              <a:t>Candidates Affected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998" y="4023360"/>
            <a:ext cx="3474720" cy="1371600"/>
          </a:xfrm>
          <a:prstGeom prst="rect">
            <a:avLst/>
          </a:prstGeom>
          <a:solidFill>
            <a:srgbClr val="F3F4F6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0998" y="411480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059669"/>
                </a:solidFill>
              </a:rP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0998" y="47548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B7280"/>
                </a:solidFill>
              </a:rPr>
              <a:t>Found by Standard Tools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6419088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B7280"/>
                </a:solidFill>
              </a:rPr>
              <a:t>Google Solution Challenge 2026 India  |  Unbiased AI Decision Track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77272" y="641908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6B7280"/>
                </a:solidFill>
              </a:rPr>
              <a:t>Prototype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5A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56032"/>
            <a:ext cx="1645920" cy="292608"/>
          </a:xfrm>
          <a:prstGeom prst="rect">
            <a:avLst/>
          </a:prstGeom>
          <a:solidFill>
            <a:srgbClr val="5A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SLIDE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1672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</a:rPr>
              <a:t>1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8580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D0D0D"/>
                </a:solidFill>
              </a:rPr>
              <a:t>Brief About the Solution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11155680" cy="1905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5448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374151"/>
                </a:solidFill>
              </a:rPr>
              <a:t>Aition is a Causal AI Fairness Engine that detects proxy discrimination — the hidden bias that passes every standard fairness test.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240280"/>
            <a:ext cx="5303520" cy="3474720"/>
          </a:xfrm>
          <a:prstGeom prst="rect">
            <a:avLst/>
          </a:prstGeom>
          <a:solidFill>
            <a:srgbClr val="FFF1F1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3774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C2626"/>
                </a:solidFill>
              </a:rPr>
              <a:t>THE PROBLEM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788920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</a:rPr>
              <a:t>•  Standard tools only measure output rate equality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118104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</a:rPr>
              <a:t>•  They CANNOT detect proxy discrimination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447288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</a:rPr>
              <a:t>•  A model can pass demographic parity and still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776472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</a:rPr>
              <a:t>•  discriminate through neutral-looking variables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105656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</a:rPr>
              <a:t>•  10M+ automated decisions/day in India affected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434840"/>
            <a:ext cx="4846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</a:rPr>
              <a:t>•  No tool surfaces the fairness impossibility theorem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35661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5A3BFF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0" y="2240280"/>
            <a:ext cx="5166360" cy="3474720"/>
          </a:xfrm>
          <a:prstGeom prst="rect">
            <a:avLst/>
          </a:prstGeom>
          <a:solidFill>
            <a:srgbClr val="F5F3FF"/>
          </a:solidFill>
          <a:ln w="12700">
            <a:solidFill>
              <a:srgbClr val="5A3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23774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A3BFF"/>
                </a:solidFill>
              </a:rPr>
              <a:t>AITION'S SOLUTION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2788920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</a:rPr>
              <a:t>•  Builds a causal graph of how the model decides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3118104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</a:rPr>
              <a:t>•  Traces proxy paths using do-calculus (DoWhy)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3447288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</a:rPr>
              <a:t>•  Detects: age → graduation gap → hired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3776472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</a:rPr>
              <a:t>•  Detects: SES → neighbourhood quality → hired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4105656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</a:rPr>
              <a:t>•  Surfaces the fairness impossibility tradeoff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4434840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374151"/>
                </a:solidFill>
              </a:rPr>
              <a:t>•  Generates plain-language reports via Gemini AI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5A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56032"/>
            <a:ext cx="1645920" cy="2926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SLIDE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1672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</a:rPr>
              <a:t>2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8580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D0D0D"/>
                </a:solidFill>
              </a:rPr>
              <a:t>Opportunities &amp; USP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11155680" cy="1905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00200"/>
            <a:ext cx="3611880" cy="4389120"/>
          </a:xfrm>
          <a:prstGeom prst="rect">
            <a:avLst/>
          </a:prstGeom>
          <a:solidFill>
            <a:srgbClr val="F3F4F6"/>
          </a:solidFill>
          <a:ln w="12700">
            <a:solidFill>
              <a:srgbClr val="5A3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19072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A3BFF"/>
                </a:solidFill>
              </a:rPr>
              <a:t>How is it different?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103120"/>
            <a:ext cx="3611880" cy="19050"/>
          </a:xfrm>
          <a:prstGeom prst="rect">
            <a:avLst/>
          </a:prstGeom>
          <a:solidFill>
            <a:srgbClr val="5A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212848"/>
            <a:ext cx="3337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74151"/>
                </a:solidFill>
              </a:rPr>
              <a:t>•  Only tool using causal graphs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514600"/>
            <a:ext cx="3337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74151"/>
                </a:solidFill>
              </a:rPr>
              <a:t>•  not just statistical correlation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816352"/>
            <a:ext cx="3337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74151"/>
                </a:solidFill>
              </a:rPr>
              <a:t>•  Detects proxy paths standard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118104"/>
            <a:ext cx="3337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74151"/>
                </a:solidFill>
              </a:rPr>
              <a:t>•  tools are blind 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419856"/>
            <a:ext cx="3337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74151"/>
                </a:solidFill>
              </a:rPr>
              <a:t>•  Two protected attributes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721608"/>
            <a:ext cx="3337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74151"/>
                </a:solidFill>
              </a:rPr>
              <a:t>•  audited simultaneously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023360"/>
            <a:ext cx="3337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74151"/>
                </a:solidFill>
              </a:rPr>
              <a:t>•  Interactive impossibility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325112"/>
            <a:ext cx="3337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74151"/>
                </a:solidFill>
              </a:rPr>
              <a:t>•  surface — not a single verdict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43400" y="1600200"/>
            <a:ext cx="3611880" cy="4389120"/>
          </a:xfrm>
          <a:prstGeom prst="rect">
            <a:avLst/>
          </a:prstGeom>
          <a:solidFill>
            <a:srgbClr val="F3F4F6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60" y="1719072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C2626"/>
                </a:solidFill>
              </a:rPr>
              <a:t>How does it solve the problem?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43400" y="2103120"/>
            <a:ext cx="3611880" cy="1905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60" y="2212848"/>
            <a:ext cx="3337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74151"/>
                </a:solidFill>
              </a:rPr>
              <a:t>•  Builds DoWhy causal model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2514600"/>
            <a:ext cx="3337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74151"/>
                </a:solidFill>
              </a:rPr>
              <a:t>•  from the dataset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2816352"/>
            <a:ext cx="3337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74151"/>
                </a:solidFill>
              </a:rPr>
              <a:t>•  Applies backdoor criterion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3118104"/>
            <a:ext cx="3337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74151"/>
                </a:solidFill>
              </a:rPr>
              <a:t>•  to find proxy paths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3419856"/>
            <a:ext cx="3337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74151"/>
                </a:solidFill>
              </a:rPr>
              <a:t>•  Surgical debiasing removes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3721608"/>
            <a:ext cx="3337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74151"/>
                </a:solidFill>
              </a:rPr>
              <a:t>•  only the biased components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4023360"/>
            <a:ext cx="3337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74151"/>
                </a:solidFill>
              </a:rPr>
              <a:t>•  Gemini report explains 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60" y="4325112"/>
            <a:ext cx="3337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74151"/>
                </a:solidFill>
              </a:rPr>
              <a:t>•  to non-technical stakeholders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83880" y="1600200"/>
            <a:ext cx="3611880" cy="4389120"/>
          </a:xfrm>
          <a:prstGeom prst="rect">
            <a:avLst/>
          </a:prstGeom>
          <a:solidFill>
            <a:srgbClr val="F3F4F6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21040" y="1719072"/>
            <a:ext cx="3337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9669"/>
                </a:solidFill>
              </a:rPr>
              <a:t>USP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83880" y="2103120"/>
            <a:ext cx="3611880" cy="1905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21040" y="2212848"/>
            <a:ext cx="3337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74151"/>
                </a:solidFill>
              </a:rPr>
              <a:t>•  First tool to make the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2514600"/>
            <a:ext cx="3337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74151"/>
                </a:solidFill>
              </a:rPr>
              <a:t>•  impossibility theorem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21040" y="2816352"/>
            <a:ext cx="3337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74151"/>
                </a:solidFill>
              </a:rPr>
              <a:t>•  interactive &amp; actionable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3118104"/>
            <a:ext cx="3337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74151"/>
                </a:solidFill>
              </a:rPr>
              <a:t>•  Plain-language audit report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3419856"/>
            <a:ext cx="3337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74151"/>
                </a:solidFill>
              </a:rPr>
              <a:t>•  for HR directors, not just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3721608"/>
            <a:ext cx="3337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74151"/>
                </a:solidFill>
              </a:rPr>
              <a:t>•  ML engineers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4023360"/>
            <a:ext cx="3337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74151"/>
                </a:solidFill>
              </a:rPr>
              <a:t>•  Indian PDPB 2023 compliance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1040" y="4325112"/>
            <a:ext cx="3337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374151"/>
                </a:solidFill>
              </a:rPr>
              <a:t>•  documentation built-in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5A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56032"/>
            <a:ext cx="1645920" cy="2926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SLIDE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1672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</a:rPr>
              <a:t>3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8580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D0D0D"/>
                </a:solidFill>
              </a:rPr>
              <a:t>Features Offered by the Solution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11155680" cy="1905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00200"/>
            <a:ext cx="2788920" cy="2148840"/>
          </a:xfrm>
          <a:prstGeom prst="rect">
            <a:avLst/>
          </a:prstGeom>
          <a:solidFill>
            <a:srgbClr val="F3F4F6"/>
          </a:solidFill>
          <a:ln w="12700">
            <a:solidFill>
              <a:srgbClr val="5A3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600200"/>
            <a:ext cx="2788920" cy="73152"/>
          </a:xfrm>
          <a:prstGeom prst="rect">
            <a:avLst/>
          </a:prstGeom>
          <a:solidFill>
            <a:srgbClr val="5A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" y="173736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A3BFF"/>
                </a:solidFill>
              </a:rPr>
              <a:t>Causal Graph Discovery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" y="216712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• DoWhy + PC Algorithm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260604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• Constraint-based causal discovery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3044952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• Fisher's Z-test for independence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47288" y="1600200"/>
            <a:ext cx="2788920" cy="2148840"/>
          </a:xfrm>
          <a:prstGeom prst="rect">
            <a:avLst/>
          </a:prstGeom>
          <a:solidFill>
            <a:srgbClr val="F3F4F6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47288" y="1600200"/>
            <a:ext cx="2788920" cy="7315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57016" y="173736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DC2626"/>
                </a:solidFill>
              </a:rPr>
              <a:t>Proxy Path Detection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57016" y="216712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• Backdoor criterion applied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57016" y="260604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• Direct &amp; indirect paths found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57016" y="3044952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• do-calculus effect estimates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91656" y="1600200"/>
            <a:ext cx="2788920" cy="2148840"/>
          </a:xfrm>
          <a:prstGeom prst="rect">
            <a:avLst/>
          </a:prstGeom>
          <a:solidFill>
            <a:srgbClr val="F3F4F6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91656" y="1600200"/>
            <a:ext cx="2788920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01384" y="173736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7C3AED"/>
                </a:solidFill>
              </a:rPr>
              <a:t>Dual Protected Attributes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1384" y="216712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• Age group (Young / Senior)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01384" y="260604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• Socioeconomic group (High / Low)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01384" y="3044952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• Both audited simultaneously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336024" y="1600200"/>
            <a:ext cx="2788920" cy="2148840"/>
          </a:xfrm>
          <a:prstGeom prst="rect">
            <a:avLst/>
          </a:prstGeom>
          <a:solidFill>
            <a:srgbClr val="F3F4F6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336024" y="1600200"/>
            <a:ext cx="2788920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45752" y="173736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59669"/>
                </a:solidFill>
              </a:rPr>
              <a:t>Standard Fairness Benchmark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5752" y="216712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• AIF360 demographic parity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45752" y="260604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• Both DPDs computed &amp; compared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45752" y="3044952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• Shows model PASSING standard test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3931920"/>
            <a:ext cx="2788920" cy="2148840"/>
          </a:xfrm>
          <a:prstGeom prst="rect">
            <a:avLst/>
          </a:prstGeom>
          <a:solidFill>
            <a:srgbClr val="F3F4F6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02920" y="3931920"/>
            <a:ext cx="2788920" cy="7315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2648" y="406908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Impossibility Surface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8" y="449884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• 17-point threshold sweep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2648" y="493776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• Pareto frontier visualised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2648" y="5376672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• Interactive slider in UI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447288" y="3931920"/>
            <a:ext cx="2788920" cy="2148840"/>
          </a:xfrm>
          <a:prstGeom prst="rect">
            <a:avLst/>
          </a:prstGeom>
          <a:solidFill>
            <a:srgbClr val="F3F4F6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447288" y="3931920"/>
            <a:ext cx="2788920" cy="7315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557016" y="406908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B6D4"/>
                </a:solidFill>
              </a:rPr>
              <a:t>Surgical Debiasing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57016" y="449884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• Proxy variable removal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57016" y="493776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• Sample reweighting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57016" y="5376672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• Before/after bias &amp; accuracy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91656" y="3931920"/>
            <a:ext cx="2788920" cy="2148840"/>
          </a:xfrm>
          <a:prstGeom prst="rect">
            <a:avLst/>
          </a:prstGeom>
          <a:solidFill>
            <a:srgbClr val="F3F4F6"/>
          </a:solidFill>
          <a:ln w="127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391656" y="3931920"/>
            <a:ext cx="2788920" cy="73152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01384" y="406908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C4899"/>
                </a:solidFill>
              </a:rPr>
              <a:t>Gemini AI Reports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501384" y="449884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• Gemini 2.5 Flash powered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01384" y="493776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• Technical + plain-language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01384" y="5376672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• Markdown formatted output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336024" y="3931920"/>
            <a:ext cx="2788920" cy="2148840"/>
          </a:xfrm>
          <a:prstGeom prst="rect">
            <a:avLst/>
          </a:prstGeom>
          <a:solidFill>
            <a:srgbClr val="F3F4F6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336024" y="3931920"/>
            <a:ext cx="2788920" cy="73152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445752" y="406908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74151"/>
                </a:solidFill>
              </a:rPr>
              <a:t>REST API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445752" y="449884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• FastAPI + Uvicorn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445752" y="493776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• POST /audit, POST /debias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445752" y="5376672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• JSON responses, audit cache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5A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56032"/>
            <a:ext cx="1645920" cy="2926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SLIDE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1672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</a:rPr>
              <a:t>4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8580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D0D0D"/>
                </a:solidFill>
              </a:rPr>
              <a:t>Process Flow Diagram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11155680" cy="1905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2286000"/>
            <a:ext cx="1325880" cy="1417320"/>
          </a:xfrm>
          <a:prstGeom prst="rect">
            <a:avLst/>
          </a:prstGeom>
          <a:solidFill>
            <a:srgbClr val="F3F4F6"/>
          </a:solidFill>
          <a:ln w="12700">
            <a:solidFill>
              <a:srgbClr val="5A3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84048" y="2286000"/>
            <a:ext cx="1325880" cy="64008"/>
          </a:xfrm>
          <a:prstGeom prst="rect">
            <a:avLst/>
          </a:prstGeom>
          <a:solidFill>
            <a:srgbClr val="5A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59536" y="2377440"/>
            <a:ext cx="384048" cy="384048"/>
          </a:xfrm>
          <a:prstGeom prst="rect">
            <a:avLst/>
          </a:prstGeom>
          <a:solidFill>
            <a:srgbClr val="5A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237744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2834640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5A3BFF"/>
                </a:solidFill>
              </a:rPr>
              <a:t>Upload
Dataset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3291840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6B7280"/>
                </a:solidFill>
              </a:rPr>
              <a:t>CSV or demo
dataset loaded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46504" y="2788920"/>
            <a:ext cx="2194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6B7280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65960" y="2286000"/>
            <a:ext cx="1325880" cy="1417320"/>
          </a:xfrm>
          <a:prstGeom prst="rect">
            <a:avLst/>
          </a:prstGeom>
          <a:solidFill>
            <a:srgbClr val="F3F4F6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65960" y="2286000"/>
            <a:ext cx="1325880" cy="640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441448" y="2377440"/>
            <a:ext cx="384048" cy="38404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441448" y="237744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2834640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6B6D4"/>
                </a:solidFill>
              </a:rPr>
              <a:t>Standard
Audit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3291840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6B7280"/>
                </a:solidFill>
              </a:rPr>
              <a:t>AIF360 DPD
both attributes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28416" y="2788920"/>
            <a:ext cx="2194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6B7280"/>
                </a:solidFill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47872" y="2286000"/>
            <a:ext cx="1325880" cy="1417320"/>
          </a:xfrm>
          <a:prstGeom prst="rect">
            <a:avLst/>
          </a:prstGeom>
          <a:solidFill>
            <a:srgbClr val="F3F4F6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547872" y="2286000"/>
            <a:ext cx="1325880" cy="640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023360" y="2377440"/>
            <a:ext cx="384048" cy="38404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023360" y="237744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93592" y="2834640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C2626"/>
                </a:solidFill>
              </a:rPr>
              <a:t>Causal
Graph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93592" y="3291840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6B7280"/>
                </a:solidFill>
              </a:rPr>
              <a:t>DoWhy builds
causal model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10328" y="2788920"/>
            <a:ext cx="2194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6B7280"/>
                </a:solidFill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129784" y="2286000"/>
            <a:ext cx="1325880" cy="1417320"/>
          </a:xfrm>
          <a:prstGeom prst="rect">
            <a:avLst/>
          </a:prstGeom>
          <a:solidFill>
            <a:srgbClr val="F3F4F6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129784" y="2286000"/>
            <a:ext cx="132588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605272" y="2377440"/>
            <a:ext cx="384048" cy="3840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05272" y="237744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75504" y="2834640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59E0B"/>
                </a:solidFill>
              </a:rPr>
              <a:t>Proxy
Detection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175504" y="3291840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6B7280"/>
                </a:solidFill>
              </a:rPr>
              <a:t>Backdoor criterion
finds proxy paths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2788920"/>
            <a:ext cx="2194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6B7280"/>
                </a:solidFill>
              </a:rPr>
              <a:t>→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711696" y="2286000"/>
            <a:ext cx="1325880" cy="1417320"/>
          </a:xfrm>
          <a:prstGeom prst="rect">
            <a:avLst/>
          </a:prstGeom>
          <a:solidFill>
            <a:srgbClr val="F3F4F6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711696" y="2286000"/>
            <a:ext cx="1325880" cy="640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187184" y="2377440"/>
            <a:ext cx="384048" cy="38404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87184" y="237744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57416" y="2834640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59669"/>
                </a:solidFill>
              </a:rPr>
              <a:t>Impossibility
Surface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57416" y="3291840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6B7280"/>
                </a:solidFill>
              </a:rPr>
              <a:t>Threshold sweep
Pareto frontier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074152" y="2788920"/>
            <a:ext cx="2194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6B7280"/>
                </a:solidFill>
              </a:rPr>
              <a:t>→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93608" y="2286000"/>
            <a:ext cx="1325880" cy="1417320"/>
          </a:xfrm>
          <a:prstGeom prst="rect">
            <a:avLst/>
          </a:prstGeom>
          <a:solidFill>
            <a:srgbClr val="F3F4F6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293608" y="2286000"/>
            <a:ext cx="1325880" cy="640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769096" y="2377440"/>
            <a:ext cx="384048" cy="38404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769096" y="237744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39328" y="2834640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7C3AED"/>
                </a:solidFill>
              </a:rPr>
              <a:t>Debiasing
(optional)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39328" y="3291840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6B7280"/>
                </a:solidFill>
              </a:rPr>
              <a:t>Proxy removal
+ reweighting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56064" y="2788920"/>
            <a:ext cx="21945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6B7280"/>
                </a:solidFill>
              </a:rPr>
              <a:t>→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875520" y="2286000"/>
            <a:ext cx="1325880" cy="1417320"/>
          </a:xfrm>
          <a:prstGeom prst="rect">
            <a:avLst/>
          </a:prstGeom>
          <a:solidFill>
            <a:srgbClr val="F3F4F6"/>
          </a:solidFill>
          <a:ln w="127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875520" y="2286000"/>
            <a:ext cx="1325880" cy="64008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0351008" y="2377440"/>
            <a:ext cx="384048" cy="384048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351008" y="237744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921240" y="2834640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C4899"/>
                </a:solidFill>
              </a:rPr>
              <a:t>Gemini
Report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921240" y="3291840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6B7280"/>
                </a:solidFill>
              </a:rPr>
              <a:t>Plain-language
audit report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02920" y="3977639"/>
            <a:ext cx="11155680" cy="2377440"/>
          </a:xfrm>
          <a:prstGeom prst="rect">
            <a:avLst/>
          </a:prstGeom>
          <a:solidFill>
            <a:srgbClr val="F5F3FF"/>
          </a:solidFill>
          <a:ln w="12700">
            <a:solidFill>
              <a:srgbClr val="5A3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85800" y="4096512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A3BFF"/>
                </a:solidFill>
              </a:rPr>
              <a:t>Key Use Cases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5800" y="4498848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  1.  HR Director uploads Q3 hiring dataset → Aition finds 3 proxy paths standard tools missed → Gemini report explains impact to board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5800" y="5001768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  2.  ML Engineer runs audit before model deployment → Impossibility slider shows fairness tradeoff → Surgical debiasing applied with 5.5% accuracy cost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5800" y="5504688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  3.  Compliance Officer generates PDPB audit trail → Both protected attributes documented → Debiasing strategy recorded with before/after metrics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5A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56032"/>
            <a:ext cx="1645920" cy="2926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SLIDE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1672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</a:rPr>
              <a:t>5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8580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D0D0D"/>
                </a:solidFill>
              </a:rPr>
              <a:t>Wireframes / Mock Diagrams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11155680" cy="1905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00200"/>
            <a:ext cx="7132320" cy="4937760"/>
          </a:xfrm>
          <a:prstGeom prst="rect">
            <a:avLst/>
          </a:prstGeom>
          <a:solidFill>
            <a:srgbClr val="050818"/>
          </a:solidFill>
          <a:ln w="12700">
            <a:solidFill>
              <a:srgbClr val="5A3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9164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48BFF"/>
                </a:solidFill>
              </a:rPr>
              <a:t>DASHBOARD — Main View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600200"/>
            <a:ext cx="1280160" cy="4937760"/>
          </a:xfrm>
          <a:prstGeom prst="rect">
            <a:avLst/>
          </a:prstGeom>
          <a:solidFill>
            <a:srgbClr val="0A0E22"/>
          </a:solidFill>
          <a:ln w="12700">
            <a:solidFill>
              <a:srgbClr val="1A1E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" y="2103120"/>
            <a:ext cx="1143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A48BFF"/>
                </a:solidFill>
              </a:rPr>
              <a:t>▶ Overview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2578608"/>
            <a:ext cx="1143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8FA8"/>
                </a:solidFill>
              </a:rPr>
              <a:t>  Fairness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" y="3054096"/>
            <a:ext cx="1143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8FA8"/>
                </a:solidFill>
              </a:rPr>
              <a:t>  Causal Graph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" y="3529584"/>
            <a:ext cx="1143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8FA8"/>
                </a:solidFill>
              </a:rPr>
              <a:t>  Debiasing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" y="4005072"/>
            <a:ext cx="1143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8FA8"/>
                </a:solidFill>
              </a:rPr>
              <a:t>  Reports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74520" y="2011680"/>
            <a:ext cx="5577840" cy="502920"/>
          </a:xfrm>
          <a:prstGeom prst="rect">
            <a:avLst/>
          </a:prstGeom>
          <a:solidFill>
            <a:srgbClr val="50101E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11680" y="207568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7A7A"/>
                </a:solidFill>
              </a:rPr>
              <a:t>⚠  PROXY BIAS DETECTED  —  81 candidates affected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74520" y="2606040"/>
            <a:ext cx="2651760" cy="1188720"/>
          </a:xfrm>
          <a:prstGeom prst="rect">
            <a:avLst/>
          </a:prstGeom>
          <a:solidFill>
            <a:srgbClr val="0E1330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965960" y="267919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7CAE0"/>
                </a:solidFill>
              </a:rPr>
              <a:t>Standard Fairness (AIF360)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65960" y="299008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59669"/>
                </a:solidFill>
              </a:rPr>
              <a:t>FAIR 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09160" y="2606040"/>
            <a:ext cx="2651760" cy="1188720"/>
          </a:xfrm>
          <a:prstGeom prst="rect">
            <a:avLst/>
          </a:prstGeom>
          <a:solidFill>
            <a:srgbClr val="0E1330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00600" y="267919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C7CAE0"/>
                </a:solidFill>
              </a:rPr>
              <a:t>Causal Fairness (DoWhy)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00600" y="2990088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DC2626"/>
                </a:solidFill>
              </a:rPr>
              <a:t>NOT FAIR ✗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74520" y="3931920"/>
            <a:ext cx="5577840" cy="2423160"/>
          </a:xfrm>
          <a:prstGeom prst="rect">
            <a:avLst/>
          </a:prstGeom>
          <a:solidFill>
            <a:srgbClr val="0E1330"/>
          </a:solidFill>
          <a:ln w="12700">
            <a:solidFill>
              <a:srgbClr val="1A1E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011680" y="40233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9EBF5"/>
                </a:solidFill>
              </a:rPr>
              <a:t>Causal Graph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847088" y="4919472"/>
            <a:ext cx="512064" cy="402336"/>
          </a:xfrm>
          <a:prstGeom prst="rect">
            <a:avLst/>
          </a:prstGeom>
          <a:solidFill>
            <a:srgbClr val="5A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847088" y="4919472"/>
            <a:ext cx="51206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Age
Group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944368" y="4462272"/>
            <a:ext cx="512064" cy="40233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44368" y="4462272"/>
            <a:ext cx="51206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Grad
Gap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44368" y="5285232"/>
            <a:ext cx="512064" cy="40233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44368" y="5285232"/>
            <a:ext cx="51206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Emp
Gap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15968" y="4462272"/>
            <a:ext cx="512064" cy="40233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15968" y="4462272"/>
            <a:ext cx="51206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Test
Score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13248" y="4919472"/>
            <a:ext cx="512064" cy="402336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13248" y="4919472"/>
            <a:ext cx="512064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Hired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18120" y="1627632"/>
            <a:ext cx="4206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74151"/>
                </a:solidFill>
              </a:rPr>
              <a:t>UI Annotations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818120" y="2011680"/>
            <a:ext cx="4206240" cy="50292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27848" y="2048256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A3BFF"/>
                </a:solidFill>
              </a:rPr>
              <a:t>Sidebar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26880" y="2048256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Navigation with 5 sections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818120" y="2578608"/>
            <a:ext cx="4206240" cy="50292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927848" y="2615184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A3BFF"/>
                </a:solidFill>
              </a:rPr>
              <a:t>Alert Banner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26880" y="2615184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Affected count + verdict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818120" y="3145536"/>
            <a:ext cx="4206240" cy="50292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927848" y="318211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A3BFF"/>
                </a:solidFill>
              </a:rPr>
              <a:t>Metric Cards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26880" y="318211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Standard vs Causal verdict side-by-side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818120" y="3712464"/>
            <a:ext cx="4206240" cy="50292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927848" y="37490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A3BFF"/>
                </a:solidFill>
              </a:rPr>
              <a:t>Causal Graph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26880" y="374904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SVG, colour-coded nodes &amp; edges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818120" y="4279392"/>
            <a:ext cx="4206240" cy="50292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927848" y="431596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A3BFF"/>
                </a:solidFill>
              </a:rPr>
              <a:t>Impossibility Slider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326880" y="431596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17-step threshold sweep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818120" y="4846320"/>
            <a:ext cx="4206240" cy="50292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927848" y="4882896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A3BFF"/>
                </a:solidFill>
              </a:rPr>
              <a:t>Debiasing Panel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326880" y="4882896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Before/after bias &amp; accuracy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818120" y="5413248"/>
            <a:ext cx="4206240" cy="50292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927848" y="5449824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5A3BFF"/>
                </a:solidFill>
              </a:rPr>
              <a:t>Report Section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326880" y="5449824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Gemini markdown rendered inline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5A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56032"/>
            <a:ext cx="1645920" cy="2926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SLIDE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1672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</a:rPr>
              <a:t>6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8580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D0D0D"/>
                </a:solidFill>
              </a:rPr>
              <a:t>Architecture Diagram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11155680" cy="1905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00200"/>
            <a:ext cx="11155680" cy="1051560"/>
          </a:xfrm>
          <a:prstGeom prst="rect">
            <a:avLst/>
          </a:prstGeom>
          <a:solidFill>
            <a:srgbClr val="F3F4F6"/>
          </a:solidFill>
          <a:ln w="12700">
            <a:solidFill>
              <a:srgbClr val="5A3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600200"/>
            <a:ext cx="2286000" cy="1051560"/>
          </a:xfrm>
          <a:prstGeom prst="rect">
            <a:avLst/>
          </a:prstGeom>
          <a:solidFill>
            <a:srgbClr val="5A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947672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FRONTEND  (React 18 + CRACO)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71800" y="1801368"/>
            <a:ext cx="19202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5A3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44952" y="187452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Dashboard.jsx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1801368"/>
            <a:ext cx="19202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5A3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02352" y="187452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CausalGraph.jsx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86600" y="1801368"/>
            <a:ext cx="19202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5A3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59752" y="187452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Sidebar.jsx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0" y="1801368"/>
            <a:ext cx="19202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5A3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17152" y="187452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api.js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2834640"/>
            <a:ext cx="11155680" cy="1051560"/>
          </a:xfrm>
          <a:prstGeom prst="rect">
            <a:avLst/>
          </a:prstGeom>
          <a:solidFill>
            <a:srgbClr val="F3F4F6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2834640"/>
            <a:ext cx="2286000" cy="105156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3182112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API GATEWAY  (FastAPI + Uvicorn)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71800" y="3035808"/>
            <a:ext cx="19202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44952" y="310896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POST /audit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0" y="3035808"/>
            <a:ext cx="19202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02352" y="310896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POST /audit/{id}/debias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86600" y="3035808"/>
            <a:ext cx="19202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59752" y="310896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GET /health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0" y="3035808"/>
            <a:ext cx="19202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17152" y="310896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CORS middleware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4069080"/>
            <a:ext cx="11155680" cy="1051560"/>
          </a:xfrm>
          <a:prstGeom prst="rect">
            <a:avLst/>
          </a:prstGeom>
          <a:solidFill>
            <a:srgbClr val="F3F4F6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2920" y="4069080"/>
            <a:ext cx="2286000" cy="10515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4416552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AUDIT ENGINE  (Python)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971800" y="4270248"/>
            <a:ext cx="19202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044952" y="434340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DoWhy CausalModel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0" y="4270248"/>
            <a:ext cx="19202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102352" y="434340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AIF360 BinaryLabelDataset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086600" y="4270248"/>
            <a:ext cx="19202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159752" y="434340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Impossibility Surface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0" y="4270248"/>
            <a:ext cx="19202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17152" y="434340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Proxy Path Detection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5303520"/>
            <a:ext cx="11155680" cy="1051560"/>
          </a:xfrm>
          <a:prstGeom prst="rect">
            <a:avLst/>
          </a:prstGeom>
          <a:solidFill>
            <a:srgbClr val="F3F4F6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" y="5303520"/>
            <a:ext cx="2286000" cy="10515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94360" y="5650992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DEBIASING + REPORT  (Python)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971800" y="5504688"/>
            <a:ext cx="19202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044952" y="557784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sklearn LogisticRegression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0" y="5504688"/>
            <a:ext cx="19202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102352" y="557784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Sample Reweighting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086600" y="5504688"/>
            <a:ext cx="19202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159752" y="557784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Gemini 2.5 Flash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144000" y="5504688"/>
            <a:ext cx="19202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217152" y="557784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Fallback Report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02920" y="6537960"/>
            <a:ext cx="11155680" cy="1051560"/>
          </a:xfrm>
          <a:prstGeom prst="rect">
            <a:avLst/>
          </a:prstGeom>
          <a:solidFill>
            <a:srgbClr val="F3F4F6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02920" y="6537960"/>
            <a:ext cx="2286000" cy="1051560"/>
          </a:xfrm>
          <a:prstGeom prst="rect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94360" y="6885432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DATA LAYER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971800" y="6739128"/>
            <a:ext cx="19202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044952" y="681228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demo_hiring_dataset.csv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029200" y="6739128"/>
            <a:ext cx="19202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102352" y="681228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In-memory audit cache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086600" y="6739128"/>
            <a:ext cx="192024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159752" y="6812280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generate_demo_dataset.py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029200" y="265176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6B7280"/>
                </a:solidFill>
              </a:rPr>
              <a:t>↕  HTTP / JSON  ↕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029200" y="38862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6B7280"/>
                </a:solidFill>
              </a:rPr>
              <a:t>↕  HTTP / JSON  ↕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029200" y="512064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6B7280"/>
                </a:solidFill>
              </a:rPr>
              <a:t>↕  HTTP / JSON  ↕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029200" y="635508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6B7280"/>
                </a:solidFill>
              </a:rPr>
              <a:t>↕  HTTP / JSON  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5A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56032"/>
            <a:ext cx="1645920" cy="2926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SLIDE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1672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</a:rPr>
              <a:t>7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8580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D0D0D"/>
                </a:solidFill>
              </a:rPr>
              <a:t>Technologies Used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11155680" cy="1905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00200"/>
            <a:ext cx="3703320" cy="4937760"/>
          </a:xfrm>
          <a:prstGeom prst="rect">
            <a:avLst/>
          </a:prstGeom>
          <a:solidFill>
            <a:srgbClr val="F3F4F6"/>
          </a:solidFill>
          <a:ln w="12700">
            <a:solidFill>
              <a:srgbClr val="5A3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600200"/>
            <a:ext cx="3703320" cy="64008"/>
          </a:xfrm>
          <a:prstGeom prst="rect">
            <a:avLst/>
          </a:prstGeom>
          <a:solidFill>
            <a:srgbClr val="5A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691640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A3BFF"/>
                </a:solidFill>
              </a:rPr>
              <a:t>Backend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" y="2148840"/>
            <a:ext cx="34747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203704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74151"/>
                </a:solidFill>
              </a:rPr>
              <a:t>FastAPI + Uvicorn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496312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</a:rPr>
              <a:t>REST API framework, async, auto-docs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" y="2953512"/>
            <a:ext cx="34747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008376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74151"/>
                </a:solidFill>
              </a:rPr>
              <a:t>DoWhy 0.11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00984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</a:rPr>
              <a:t>Causal graph discovery, PC algorithm, backdoor criterion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" y="3758184"/>
            <a:ext cx="34747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813048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74151"/>
                </a:solidFill>
              </a:rPr>
              <a:t>AIF360 0.6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105656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</a:rPr>
              <a:t>Standard fairness metrics, BinaryLabelDatasetMetric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" y="4562856"/>
            <a:ext cx="34747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617720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74151"/>
                </a:solidFill>
              </a:rPr>
              <a:t>scikit-learn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910328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</a:rPr>
              <a:t>LogisticRegression for debiasing baseline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648" y="5367528"/>
            <a:ext cx="34747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422392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74151"/>
                </a:solidFill>
              </a:rPr>
              <a:t>pandas + numpy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715000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</a:rPr>
              <a:t>Data manipulation and numerical computation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89120" y="1600200"/>
            <a:ext cx="3703320" cy="4937760"/>
          </a:xfrm>
          <a:prstGeom prst="rect">
            <a:avLst/>
          </a:prstGeom>
          <a:solidFill>
            <a:srgbClr val="F3F4F6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89120" y="1600200"/>
            <a:ext cx="3703320" cy="640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26280" y="1691640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B6D4"/>
                </a:solidFill>
              </a:rPr>
              <a:t>Frontend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98848" y="2148840"/>
            <a:ext cx="34747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17720" y="2203704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74151"/>
                </a:solidFill>
              </a:rPr>
              <a:t>React 18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17720" y="2496312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</a:rPr>
              <a:t>Component-based UI, hooks, state management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98848" y="2953512"/>
            <a:ext cx="34747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17720" y="3008376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74151"/>
                </a:solidFill>
              </a:rPr>
              <a:t>React Router v6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17720" y="3300984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</a:rPr>
              <a:t>Client-side routing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498848" y="3758184"/>
            <a:ext cx="34747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17720" y="3813048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74151"/>
                </a:solidFill>
              </a:rPr>
              <a:t>Lucide React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17720" y="4105656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</a:rPr>
              <a:t>Icon library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498848" y="4562856"/>
            <a:ext cx="34747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17720" y="4617720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74151"/>
                </a:solidFill>
              </a:rPr>
              <a:t>CRACO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17720" y="4910328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</a:rPr>
              <a:t>Create React App with custom webpack config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498848" y="5367528"/>
            <a:ext cx="34747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17720" y="5422392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74151"/>
                </a:solidFill>
              </a:rPr>
              <a:t>Custom SVG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17720" y="5715000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</a:rPr>
              <a:t>CausalGraph rendered without D3 dependency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75320" y="1600200"/>
            <a:ext cx="3703320" cy="4937760"/>
          </a:xfrm>
          <a:prstGeom prst="rect">
            <a:avLst/>
          </a:prstGeom>
          <a:solidFill>
            <a:srgbClr val="F3F4F6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275320" y="1600200"/>
            <a:ext cx="3703320" cy="640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12480" y="1691640"/>
            <a:ext cx="3429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C2626"/>
                </a:solidFill>
              </a:rPr>
              <a:t>AI &amp; Cloud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385048" y="2148840"/>
            <a:ext cx="34747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503920" y="2203704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74151"/>
                </a:solidFill>
              </a:rPr>
              <a:t>Google Gemini 2.5 Flash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03920" y="2496312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</a:rPr>
              <a:t>Plain-language audit report generation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385048" y="2953512"/>
            <a:ext cx="34747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03920" y="3008376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74151"/>
                </a:solidFill>
              </a:rPr>
              <a:t>google-genai SDK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03920" y="3300984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</a:rPr>
              <a:t>Python client for Gemini API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385048" y="3758184"/>
            <a:ext cx="34747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503920" y="3813048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74151"/>
                </a:solidFill>
              </a:rPr>
              <a:t>Vercel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03920" y="4105656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</a:rPr>
              <a:t>Frontend deployment (static build)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385048" y="4562856"/>
            <a:ext cx="34747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503920" y="4617720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74151"/>
                </a:solidFill>
              </a:rPr>
              <a:t>python-dotenv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503920" y="4910328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</a:rPr>
              <a:t>Environment variable management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385048" y="5367528"/>
            <a:ext cx="34747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503920" y="5422392"/>
            <a:ext cx="3246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74151"/>
                </a:solidFill>
              </a:rPr>
              <a:t>Hypothesis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503920" y="5715000"/>
            <a:ext cx="3246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280"/>
                </a:solidFill>
              </a:rPr>
              <a:t>Property-based testing for backend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5A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56032"/>
            <a:ext cx="1645920" cy="2926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SLIDE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1672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</a:rPr>
              <a:t>8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8580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D0D0D"/>
                </a:solidFill>
              </a:rPr>
              <a:t>Estimated Implementation Cost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11155680" cy="1905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91640"/>
            <a:ext cx="5486400" cy="2103120"/>
          </a:xfrm>
          <a:prstGeom prst="rect">
            <a:avLst/>
          </a:prstGeom>
          <a:solidFill>
            <a:srgbClr val="F3F4F6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691640"/>
            <a:ext cx="5486400" cy="640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1828800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Google Gemini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258568"/>
            <a:ext cx="5166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~$0.075 / 1M input tokens
~$0.30 / 1M output tokens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512" y="2953512"/>
            <a:ext cx="5166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01752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💰  ~$5–15/month at demo scale
~$50–200/month at production scale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1691640"/>
            <a:ext cx="5486400" cy="2103120"/>
          </a:xfrm>
          <a:prstGeom prst="rect">
            <a:avLst/>
          </a:prstGeom>
          <a:solidFill>
            <a:srgbClr val="F3F4F6"/>
          </a:solidFill>
          <a:ln w="12700">
            <a:solidFill>
              <a:srgbClr val="5A3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691640"/>
            <a:ext cx="5486400" cy="64008"/>
          </a:xfrm>
          <a:prstGeom prst="rect">
            <a:avLst/>
          </a:prstGeom>
          <a:solidFill>
            <a:srgbClr val="5A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28232" y="1828800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A3BFF"/>
                </a:solidFill>
              </a:rPr>
              <a:t>Vercel (Frontend)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8232" y="2258568"/>
            <a:ext cx="5166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Free tier: unlimited personal projects
Pro: $20/month/member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28232" y="2953512"/>
            <a:ext cx="5166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5A3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301752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A3BFF"/>
                </a:solidFill>
              </a:rPr>
              <a:t>💰  Free for prototype
$20/month for team deployment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023360"/>
            <a:ext cx="5486400" cy="2103120"/>
          </a:xfrm>
          <a:prstGeom prst="rect">
            <a:avLst/>
          </a:prstGeom>
          <a:solidFill>
            <a:srgbClr val="F3F4F6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4023360"/>
            <a:ext cx="5486400" cy="640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" y="4160520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B6D4"/>
                </a:solidFill>
              </a:rPr>
              <a:t>Cloud Run (Backend)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" y="4590288"/>
            <a:ext cx="5166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GCP: $0.00002400/vCPU-second
$0.00000250/GB-second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7512" y="5285232"/>
            <a:ext cx="5166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34924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</a:rPr>
              <a:t>💰  ~$0 at demo scale (free tier)
~$30–80/month at production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4023360"/>
            <a:ext cx="5486400" cy="2103120"/>
          </a:xfrm>
          <a:prstGeom prst="rect">
            <a:avLst/>
          </a:prstGeom>
          <a:solidFill>
            <a:srgbClr val="F3F4F6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63640" y="4023360"/>
            <a:ext cx="5486400" cy="640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28232" y="4160520"/>
            <a:ext cx="5166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59669"/>
                </a:solidFill>
              </a:rPr>
              <a:t>Development (MVP)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28232" y="4590288"/>
            <a:ext cx="5166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1 developer, 3 months
Part-time student project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28232" y="5285232"/>
            <a:ext cx="5166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37960" y="534924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59669"/>
                </a:solidFill>
              </a:rPr>
              <a:t>💰  ₹0 (student project)
~$15,000 commercial equivalent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374151"/>
                </a:solidFill>
              </a:rPr>
              <a:t>Total estimated monthly cost at production scale: ~$100–300/month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5A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56032"/>
            <a:ext cx="1645920" cy="29260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SLIDE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1672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</a:rPr>
              <a:t>9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8580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D0D0D"/>
                </a:solidFill>
              </a:rPr>
              <a:t>Snapshots of the MVP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11155680" cy="1905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00200"/>
            <a:ext cx="7315200" cy="5029200"/>
          </a:xfrm>
          <a:prstGeom prst="rect">
            <a:avLst/>
          </a:prstGeom>
          <a:solidFill>
            <a:srgbClr val="050818"/>
          </a:solidFill>
          <a:ln w="12700">
            <a:solidFill>
              <a:srgbClr val="5A3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783080"/>
            <a:ext cx="7040880" cy="502920"/>
          </a:xfrm>
          <a:prstGeom prst="rect">
            <a:avLst/>
          </a:prstGeom>
          <a:solidFill>
            <a:srgbClr val="50101E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856232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7A7A"/>
                </a:solidFill>
              </a:rPr>
              <a:t>⚠  PROXY DISCRIMINATION DETECTED  —  81 candidates affected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423160"/>
            <a:ext cx="3429000" cy="1005840"/>
          </a:xfrm>
          <a:prstGeom prst="rect">
            <a:avLst/>
          </a:prstGeom>
          <a:solidFill>
            <a:srgbClr val="0E1330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49631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7CAE0"/>
                </a:solidFill>
              </a:rPr>
              <a:t>Standard Fairness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7889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59669"/>
                </a:solidFill>
              </a:rPr>
              <a:t>FAIR ✓  DPD: 0.0809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60" y="2423160"/>
            <a:ext cx="3429000" cy="1005840"/>
          </a:xfrm>
          <a:prstGeom prst="rect">
            <a:avLst/>
          </a:prstGeom>
          <a:solidFill>
            <a:srgbClr val="0E1330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61688" y="249631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7CAE0"/>
                </a:solidFill>
              </a:rPr>
              <a:t>Causal Fairness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61688" y="278892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C2626"/>
                </a:solidFill>
              </a:rPr>
              <a:t>NOT FAIR ✗  3 paths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566160"/>
            <a:ext cx="7040880" cy="1371600"/>
          </a:xfrm>
          <a:prstGeom prst="rect">
            <a:avLst/>
          </a:prstGeom>
          <a:solidFill>
            <a:srgbClr val="0E1330"/>
          </a:solidFill>
          <a:ln w="12700">
            <a:solidFill>
              <a:srgbClr val="5A3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630168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48BFF"/>
                </a:solidFill>
              </a:rPr>
              <a:t>Proxy Paths Detected by Aition: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95935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9A9A"/>
                </a:solidFill>
              </a:rPr>
              <a:t>🔴  age_group  →  college_graduation_year_gap  →  hired   (effect: 0.298)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261104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9A9A"/>
                </a:solidFill>
              </a:rPr>
              <a:t>🔴  age_group  →  employment_gap  →  hired   (effect: 0.152)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562856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9A9A"/>
                </a:solidFill>
              </a:rPr>
              <a:t>🔴  socioeconomic_group  →  neighborhood_quality  →  hired   (effect: 0.401)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5093208"/>
            <a:ext cx="7040880" cy="1325880"/>
          </a:xfrm>
          <a:prstGeom prst="rect">
            <a:avLst/>
          </a:prstGeom>
          <a:solidFill>
            <a:srgbClr val="0E1330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16636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4D399"/>
                </a:solidFill>
              </a:rPr>
              <a:t>Surgical Debiasing Result: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513832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E7B7"/>
                </a:solidFill>
              </a:rPr>
              <a:t>Bias Index:  0.0603  →  0.0269   (65.4% reduction)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788152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E7B7"/>
                </a:solidFill>
              </a:rPr>
              <a:t>Accuracy:  93.8%  →  88.3%   (5.5% cost)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6062472"/>
            <a:ext cx="6858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EE7B7"/>
                </a:solidFill>
              </a:rPr>
              <a:t>Removed:  college_graduation_year_gap, neighborhood_quality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1000" y="1627632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74151"/>
                </a:solidFill>
              </a:rPr>
              <a:t>Key MVP Numbers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01000" y="2011680"/>
            <a:ext cx="3931920" cy="658368"/>
          </a:xfrm>
          <a:prstGeom prst="rect">
            <a:avLst/>
          </a:prstGeom>
          <a:solidFill>
            <a:srgbClr val="F3F4F6"/>
          </a:solidFill>
          <a:ln w="12700">
            <a:solidFill>
              <a:srgbClr val="5A3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38160" y="2066544"/>
            <a:ext cx="12801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5A3BFF"/>
                </a:solidFill>
              </a:rPr>
              <a:t>3 / 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64040" y="2176272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Proxy paths: Aition vs Standard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01000" y="2761488"/>
            <a:ext cx="3931920" cy="658368"/>
          </a:xfrm>
          <a:prstGeom prst="rect">
            <a:avLst/>
          </a:prstGeom>
          <a:solidFill>
            <a:srgbClr val="F3F4F6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38160" y="2816352"/>
            <a:ext cx="12801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DC2626"/>
                </a:solidFill>
              </a:rPr>
              <a:t>81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64040" y="2926080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Candidates wrongly affected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001000" y="3511296"/>
            <a:ext cx="3931920" cy="658368"/>
          </a:xfrm>
          <a:prstGeom prst="rect">
            <a:avLst/>
          </a:prstGeom>
          <a:solidFill>
            <a:srgbClr val="F3F4F6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38160" y="3566160"/>
            <a:ext cx="12801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59669"/>
                </a:solidFill>
              </a:rPr>
              <a:t>65.4%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64040" y="3675888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Bias reduction after debiasing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01000" y="4261104"/>
            <a:ext cx="3931920" cy="658368"/>
          </a:xfrm>
          <a:prstGeom prst="rect">
            <a:avLst/>
          </a:prstGeom>
          <a:solidFill>
            <a:srgbClr val="F3F4F6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38160" y="4315968"/>
            <a:ext cx="12801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59E0B"/>
                </a:solidFill>
              </a:rPr>
              <a:t>5.5%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64040" y="4425696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Accuracy cost of debiasing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01000" y="5010912"/>
            <a:ext cx="3931920" cy="658368"/>
          </a:xfrm>
          <a:prstGeom prst="rect">
            <a:avLst/>
          </a:prstGeom>
          <a:solidFill>
            <a:srgbClr val="F3F4F6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38160" y="5065776"/>
            <a:ext cx="12801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6B6D4"/>
                </a:solidFill>
              </a:rPr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64040" y="5175504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Protected attributes audited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01000" y="5760720"/>
            <a:ext cx="3931920" cy="658368"/>
          </a:xfrm>
          <a:prstGeom prst="rect">
            <a:avLst/>
          </a:prstGeom>
          <a:solidFill>
            <a:srgbClr val="F3F4F6"/>
          </a:solidFill>
          <a:ln w="1270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138160" y="5815584"/>
            <a:ext cx="12801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6B7280"/>
                </a:solidFill>
              </a:rPr>
              <a:t>0.0997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464040" y="5925312"/>
            <a:ext cx="2331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374151"/>
                </a:solidFill>
              </a:rPr>
              <a:t>DPD — passes standard threshold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5A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256032"/>
            <a:ext cx="1645920" cy="2926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SLIDE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1672" y="644652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</a:rPr>
              <a:t>10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8580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D0D0D"/>
                </a:solidFill>
              </a:rPr>
              <a:t>Future Development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11155680" cy="19050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00200"/>
            <a:ext cx="3703320" cy="4480560"/>
          </a:xfrm>
          <a:prstGeom prst="rect">
            <a:avLst/>
          </a:prstGeom>
          <a:solidFill>
            <a:srgbClr val="F3F4F6"/>
          </a:solidFill>
          <a:ln w="12700">
            <a:solidFill>
              <a:srgbClr val="5A3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600200"/>
            <a:ext cx="3703320" cy="64008"/>
          </a:xfrm>
          <a:prstGeom prst="rect">
            <a:avLst/>
          </a:prstGeom>
          <a:solidFill>
            <a:srgbClr val="5A3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691640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A3BFF"/>
                </a:solidFill>
              </a:rPr>
              <a:t>Phase 1
(3 months)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" y="2331720"/>
            <a:ext cx="34747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240487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→  Unstructured input auditing (CV text, voice screening)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" y="2990088"/>
            <a:ext cx="34747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30632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→  Multi-language Gemini reports (Hindi, Tamil, Telugu)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" y="3648456"/>
            <a:ext cx="34747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372160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→  Firebase audit trail — immutable, versioned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" y="4306824"/>
            <a:ext cx="34747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" y="4379976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→  User authentication + organisation management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89120" y="1600200"/>
            <a:ext cx="3703320" cy="4480560"/>
          </a:xfrm>
          <a:prstGeom prst="rect">
            <a:avLst/>
          </a:prstGeom>
          <a:solidFill>
            <a:srgbClr val="F3F4F6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89120" y="1600200"/>
            <a:ext cx="3703320" cy="640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26280" y="1691640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6B6D4"/>
                </a:solidFill>
              </a:rPr>
              <a:t>Phase 2
(6 months)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98848" y="2331720"/>
            <a:ext cx="34747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90288" y="240487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→  Real-time bias drift monitoring across model versions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98848" y="2990088"/>
            <a:ext cx="34747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90288" y="30632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→  Support for custom protected attributes (any column)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98848" y="3648456"/>
            <a:ext cx="34747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90288" y="372160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→  Integration with ATS platforms (Workday, Greenhouse)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98848" y="4306824"/>
            <a:ext cx="34747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90288" y="4379976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→  PDPB 2023 compliance certificate generation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75320" y="1600200"/>
            <a:ext cx="3703320" cy="4480560"/>
          </a:xfrm>
          <a:prstGeom prst="rect">
            <a:avLst/>
          </a:prstGeom>
          <a:solidFill>
            <a:srgbClr val="F3F4F6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275320" y="1600200"/>
            <a:ext cx="3703320" cy="640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0" y="1691640"/>
            <a:ext cx="3429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59669"/>
                </a:solidFill>
              </a:rPr>
              <a:t>Phase 3
(12 months)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385048" y="2331720"/>
            <a:ext cx="34747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76488" y="240487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→  Open-source audit standard for Indian AI systems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385048" y="2990088"/>
            <a:ext cx="34747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76488" y="30632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→  National fairness benchmark dataset (India-specific)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385048" y="3648456"/>
            <a:ext cx="34747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76488" y="372160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→  Credit scoring and healthcare triage audit modules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385048" y="4306824"/>
            <a:ext cx="34747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76488" y="4379976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74151"/>
                </a:solidFill>
              </a:rPr>
              <a:t>→  Flutter mobile app for field compliance officers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6263640"/>
            <a:ext cx="11155680" cy="457200"/>
          </a:xfrm>
          <a:prstGeom prst="rect">
            <a:avLst/>
          </a:prstGeom>
          <a:solidFill>
            <a:srgbClr val="F5F3FF"/>
          </a:solidFill>
          <a:ln w="12700">
            <a:solidFill>
              <a:srgbClr val="5A3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6309360"/>
            <a:ext cx="10789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A3BFF"/>
                </a:solidFill>
              </a:rPr>
              <a:t>SDG Alignment:  SDG 10 Reduced Inequalities  ·  SDG 8 Decent Work  ·  SDG 16 Justice &amp; Institutions  ·  SDG 5 Gender Equality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